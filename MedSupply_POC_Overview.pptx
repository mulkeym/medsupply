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Medical Resupply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60604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"/>
              </a:defRPr>
            </a:pPr>
            <a:r>
              <a:t>Proof of Concept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Phlebotomy-Support Supply Risk Prediction</a:t>
            </a:r>
            <a:br/>
            <a:r>
              <a:t>Across a Notional USINDOPACOM Medical Logistics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Simulated, Unclassified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Military medical logistics networks must maintain readiness across geographically dispersed nodes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Operational events (MASCAL, FPCON, hub disruptions) create sudden demand surges and supply-chain disruptions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Planners lack forward-looking visibility into which nodes will experience stockouts and when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Manual planning cannot efficiently evaluate compound scenarios across a multi-echelon supply network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Without predictive tools, resupply decisions are reactive rather than proactive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Key Questions to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Which nodes fall below reorder point?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Which nodes stock out during the forecast horizon?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Which item causes the first mission risk?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How do MASCAL or FPCON events affect demand?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How does hub or route disruption affect resupply latency?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Which secondary or tertiary route should be activated?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What minimum supply levels should be targeted?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POC Scope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8 Phlebotomy Supplies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Nitrile gloves (high criticality)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Blood collection tubes (high)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Butterfly needle sets (high)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Alcohol prep pads (medium)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Gauze pads (medium)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Tourniquets (medium)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Specimen bags (medium)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Barcode labels (low)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383280" cy="4754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14-Node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 Strategic Supplier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 DLA Prime Vendor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 Theater Hub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3 Regional Hubs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3 MTFs (Medical Treatment Facilities)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3 Forward Medical Units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2 Battalion Aid Stations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19 supply routes (primary / secondary / tertiary)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749039" cy="4754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5 Event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sz="1300" b="1">
                <a:solidFill>
                  <a:srgbClr val="1E293B"/>
                </a:solidFill>
                <a:latin typeface="Calibri"/>
              </a:rPr>
              <a:t>MASCAL</a:t>
            </a:r>
            <a:r>
              <a:rPr sz="1300" b="0">
                <a:solidFill>
                  <a:srgbClr val="1E293B"/>
                </a:solidFill>
                <a:latin typeface="Calibri"/>
              </a:rPr>
              <a:t> - mass casualty demand surge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sz="1300" b="1">
                <a:solidFill>
                  <a:srgbClr val="1E293B"/>
                </a:solidFill>
                <a:latin typeface="Calibri"/>
              </a:rPr>
              <a:t>FPCON</a:t>
            </a:r>
            <a:r>
              <a:rPr sz="1300" b="0">
                <a:solidFill>
                  <a:srgbClr val="1E293B"/>
                </a:solidFill>
                <a:latin typeface="Calibri"/>
              </a:rPr>
              <a:t> - force protection restrictions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sz="1300" b="1">
                <a:solidFill>
                  <a:srgbClr val="1E293B"/>
                </a:solidFill>
                <a:latin typeface="Calibri"/>
              </a:rPr>
              <a:t>Hub Degraded</a:t>
            </a:r>
            <a:r>
              <a:rPr sz="1300" b="0">
                <a:solidFill>
                  <a:srgbClr val="1E293B"/>
                </a:solidFill>
                <a:latin typeface="Calibri"/>
              </a:rPr>
              <a:t> - route delays &amp; reliability loss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sz="1300" b="1">
                <a:solidFill>
                  <a:srgbClr val="1E293B"/>
                </a:solidFill>
                <a:latin typeface="Calibri"/>
              </a:rPr>
              <a:t>Hub Offline</a:t>
            </a:r>
            <a:r>
              <a:rPr sz="1300" b="0">
                <a:solidFill>
                  <a:srgbClr val="1E293B"/>
                </a:solidFill>
                <a:latin typeface="Calibri"/>
              </a:rPr>
              <a:t> - primary routes blocked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sz="1300" b="1">
                <a:solidFill>
                  <a:srgbClr val="1E293B"/>
                </a:solidFill>
                <a:latin typeface="Calibri"/>
              </a:rPr>
              <a:t>Inventory Loss</a:t>
            </a:r>
            <a:r>
              <a:rPr sz="1300" b="0">
                <a:solidFill>
                  <a:srgbClr val="1E293B"/>
                </a:solidFill>
                <a:latin typeface="Calibri"/>
              </a:rPr>
              <a:t> - stock reduction at node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Each event has low / medium / high severity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Events queue for compound scenarios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1-180 day forecast horizons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57600" cy="457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Browser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Google Maps regional supply-chain map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Node selection &amp; status coloring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Operations tab (map, events, forecasts)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Data tab (node directory, inventory editing)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Event queue &amp; scenario controls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Impact summary &amp; risk tables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Global stock-posture scenarios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3474720"/>
            <a:ext cx="731520" cy="4572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463040"/>
            <a:ext cx="36576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488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REST API (17 endpoints)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Per-node burn-rate engine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Compound event processing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Route impact &amp; reachability analysis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Path latency calculations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Inventory forecasting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Recommendation generation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3474720"/>
            <a:ext cx="731520" cy="4572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20" y="2011680"/>
            <a:ext cx="1463040" cy="32918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26517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Items</a:t>
            </a:r>
          </a:p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Nodes</a:t>
            </a:r>
          </a:p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Routes</a:t>
            </a:r>
          </a:p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Op States</a:t>
            </a:r>
          </a:p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Demand Profiles</a:t>
            </a:r>
          </a:p>
          <a:p>
            <a:pPr>
              <a:spcAft>
                <a:spcPts val="400"/>
              </a:spcAft>
              <a:defRPr sz="1100">
                <a:solidFill>
                  <a:srgbClr val="DBEAFE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Network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Directed graph modeling a USINDOPACOM-style hub-and-spoke medical supply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011680"/>
            <a:ext cx="164592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Strategic Supplier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743200"/>
            <a:ext cx="1645920" cy="50292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DLA Prime Vendor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474720"/>
            <a:ext cx="164592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Pacific Theater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297680"/>
            <a:ext cx="16459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Regional Hub</a:t>
            </a:r>
            <a:br/>
            <a:r>
              <a:t>North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297680"/>
            <a:ext cx="16459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Regional Hub</a:t>
            </a:r>
            <a:br/>
            <a:r>
              <a:t>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297680"/>
            <a:ext cx="16459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Regional Hub</a:t>
            </a:r>
            <a:br/>
            <a:r>
              <a:t>South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120640"/>
            <a:ext cx="1371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MTF Alpha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5852160"/>
            <a:ext cx="1371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Fwd 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852160"/>
            <a:ext cx="1371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BAS Silver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120640"/>
            <a:ext cx="1371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MTF Bravo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852160"/>
            <a:ext cx="1371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Fwd Blue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5120640"/>
            <a:ext cx="1371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MTF Charlie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852160"/>
            <a:ext cx="1371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BAS Gold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5852160"/>
            <a:ext cx="1371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Fwd Green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828800"/>
            <a:ext cx="182880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Route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240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Primary (1-14 days)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Secondary (2-7 days)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Tertiary (7 days)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19 total routes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Latency: 1-14 days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Reliability: 0.68-0.93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572000"/>
            <a:ext cx="1828800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Node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9377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Supplier / DLA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Theater Hub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Regional Hubs (3)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MTFs (3)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Forward Units (3)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Battalion Aid (2)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38328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id (PK), name, unit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usage_per_draw, usage_rate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demand_basis (phlebotomy_event, specimen, patient_encounter, personnel_day)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criticality (high, medium, low)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38328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id (PK), name, type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latitude, longitude, x, 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population, optempo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stock_days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749039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id (PK), source_node_id, destination_node_id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priority (primary, secondary, tertiary)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days (delivery latency)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reliability (0.0 - 1.0)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33832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operational_states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id (PK), label, description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demand_multiplier (0.35x - 3.0x)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route_latency_multiplier (1.0x - 1.35x)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7 states from Standby to Combat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840480"/>
            <a:ext cx="33832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node_demand_profiles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node_id (PK)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active_supported_population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daily_encounter_rate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phlebotomy_probability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specimens_per_phlebotomy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operational_state, waste_factor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840480"/>
            <a:ext cx="3749039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inventory_balances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node_id + item_id (composite PK)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quantity_on_hand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Initialized from burn-rate profile * stock_days * item_skew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Hub balances sized from aggregate downstream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858000" cy="228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Core Daily Demand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daily_demand  =  active_supported_population</a:t>
            </a:r>
          </a:p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                         x  workload_driver</a:t>
            </a:r>
          </a:p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                         x  item_usage_rate</a:t>
            </a:r>
          </a:p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                         x  operational_state_multiplier</a:t>
            </a:r>
          </a:p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                         x  event_demand_multiplier</a:t>
            </a:r>
          </a:p>
          <a:p>
            <a:pPr>
              <a:spcAft>
                <a:spcPts val="100"/>
              </a:spcAft>
              <a:defRPr sz="1400">
                <a:solidFill>
                  <a:srgbClr val="3B82F6"/>
                </a:solidFill>
                <a:latin typeface="Consolas"/>
              </a:defRPr>
            </a:pPr>
            <a:r>
              <a:t>                         x  waste_factor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84048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Workload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Phlebotomy event:</a:t>
            </a:r>
            <a:r>
              <a:rPr sz="1200" b="0">
                <a:solidFill>
                  <a:srgbClr val="1E293B"/>
                </a:solidFill>
                <a:latin typeface="Calibri"/>
              </a:rPr>
              <a:t> pop x encounter rate x phlebotomy prob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Specimen:</a:t>
            </a:r>
            <a:r>
              <a:rPr sz="1200" b="0">
                <a:solidFill>
                  <a:srgbClr val="1E293B"/>
                </a:solidFill>
                <a:latin typeface="Calibri"/>
              </a:rPr>
              <a:t> above x specimens per phlebotomy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Patient encounter:</a:t>
            </a:r>
            <a:r>
              <a:rPr sz="1200" b="0">
                <a:solidFill>
                  <a:srgbClr val="1E293B"/>
                </a:solidFill>
                <a:latin typeface="Calibri"/>
              </a:rPr>
              <a:t> pop x encounter rate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Personnel day:</a:t>
            </a:r>
            <a:r>
              <a:rPr sz="1200" b="0">
                <a:solidFill>
                  <a:srgbClr val="1E293B"/>
                </a:solidFill>
                <a:latin typeface="Calibri"/>
              </a:rPr>
              <a:t> pop x usage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7 Operational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Reduced Manning / Standby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34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0.35x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34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1.00x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5429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Garrison / Steady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6542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1.00x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542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1.00x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737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Training / Exercise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73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1.50x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873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1.00x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932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Deployment Prep / Mobilization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93207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1.75x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93207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1.05x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126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Forward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312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1.75x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12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1.15x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Active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532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2.00x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532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1.20x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51575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Combat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751575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3.00x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751575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1.35x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2976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2976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931920"/>
            <a:ext cx="53035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Default Profile Parameters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Daily encounter rate:</a:t>
            </a:r>
            <a:r>
              <a:rPr sz="1200" b="0">
                <a:solidFill>
                  <a:srgbClr val="1E293B"/>
                </a:solidFill>
                <a:latin typeface="Calibri"/>
              </a:rPr>
              <a:t> 0.018 (1.8% of population per day)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Phlebotomy probability:</a:t>
            </a:r>
            <a:r>
              <a:rPr sz="1200" b="0">
                <a:solidFill>
                  <a:srgbClr val="1E293B"/>
                </a:solidFill>
                <a:latin typeface="Calibri"/>
              </a:rPr>
              <a:t> 0.38 (38% of encounters need a draw)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Specimens per phlebotomy:</a:t>
            </a:r>
            <a:r>
              <a:rPr sz="1200" b="0">
                <a:solidFill>
                  <a:srgbClr val="1E293B"/>
                </a:solidFill>
                <a:latin typeface="Calibri"/>
              </a:rPr>
              <a:t> 1.2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Waste factor:</a:t>
            </a:r>
            <a:r>
              <a:rPr sz="1200" b="0">
                <a:solidFill>
                  <a:srgbClr val="1E293B"/>
                </a:solidFill>
                <a:latin typeface="Calibri"/>
              </a:rPr>
              <a:t> 1.08 (8% waste / damage allowance)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Initial stock posture:</a:t>
            </a:r>
            <a:r>
              <a:rPr sz="1200" b="0">
                <a:solidFill>
                  <a:srgbClr val="1E293B"/>
                </a:solidFill>
                <a:latin typeface="Calibri"/>
              </a:rPr>
              <a:t> 180 days of baseline supply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Demand is modeled per-node, not globally. Each node has its own demand profile.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Events are temporary scenario overlays. Multiple events can be queued for compound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031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MASCAL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Demand Effect: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Days 1-3: peak surge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Day 4+: sustained surge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Low: 3x / 1.5x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Med: 5x / 2x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High: 8x / 3x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 direct supply effect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Cascades downstream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21031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FPCON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Demand Effect: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Low: 1.10x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Med: 1.25x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High: 1.45x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Supply Effect: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Route latency increase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Low: 1.25x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Med: 1.50x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High: 2.00x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28800"/>
            <a:ext cx="21031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Calibri"/>
              </a:defRPr>
            </a:pPr>
            <a:r>
              <a:t>Hub Degraded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317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 demand increase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Supply Effect: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Outbound latency doubled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Reliability reduced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Low: -12% reliability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Med: -25% reliability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High: -40% reliability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828800"/>
            <a:ext cx="21031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Hub Offline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3317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 demand increase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Supply Effect: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All primary outbound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routes BLOCKED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Downstream nodes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fall to organic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stock levels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(14-120 days by type)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828800"/>
            <a:ext cx="18288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6B"/>
                </a:solidFill>
                <a:latin typeface="Calibri"/>
              </a:defRPr>
            </a:pPr>
            <a:r>
              <a:t>Inv.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33172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 demand increase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Inventory reduced: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Low: 25% lost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Med: 50% lost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High: 75% lost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Immediate effect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at selected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Inventory Policy &amp; Thresholds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Three Inventory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74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Target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30 days of baseline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27432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Reorder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21 days of baseline 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274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Critical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 days of baseline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Net Drawdown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  <a:latin typeface="Consolas"/>
              </a:defRPr>
            </a:pPr>
            <a:r>
              <a:t>net_drawdown = event_demand - baseline_replenishment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DBEAFE"/>
                </a:solidFill>
              </a:defRPr>
            </a:pPr>
            <a:r>
              <a:t>In steady state (no events), net drawdown = 0 for reachable nodes.</a:t>
            </a:r>
          </a:p>
          <a:p>
            <a:pPr>
              <a:defRPr sz="1300">
                <a:solidFill>
                  <a:srgbClr val="DBEAFE"/>
                </a:solidFill>
              </a:defRPr>
            </a:pPr>
            <a:r>
              <a:t>Events create risk by increasing demand, reducing inventory, or disrupting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303520" cy="23774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Forecast Status Classification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06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&gt; reorder point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599432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5537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&lt; reorder point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946904"/>
            <a:ext cx="182880" cy="1828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90118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90118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Forecasted below critical level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294376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2486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Stockout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248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Forecasted to reach zero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5641848"/>
            <a:ext cx="182880" cy="1828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5961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59612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Hub offline event active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657600"/>
            <a:ext cx="53035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Organic Stock Fallback (Unreachable Nodes)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Theater 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120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Regional 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60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MTF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45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Forward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21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Battalion aid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760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When all routes to a node are blocked, it falls back to organic stock posture.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Predictions Are Created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The forecast engine runs a deterministic, day-by-day simulation for each node across the forecast horizon.</a:t>
            </a:r>
          </a:p>
        </p:txBody>
      </p:sp>
      <p:sp>
        <p:nvSpPr>
          <p:cNvPr id="6" name="Oval 5"/>
          <p:cNvSpPr/>
          <p:nvPr/>
        </p:nvSpPr>
        <p:spPr>
          <a:xfrm>
            <a:off x="1188719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Load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Load items, nodes, routes,</a:t>
            </a:r>
            <a:br/>
            <a:r>
              <a:t>profiles, states, and</a:t>
            </a:r>
            <a:br/>
            <a:r>
              <a:t>current inventory from DB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Process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Parse event queue into</a:t>
            </a:r>
            <a:br/>
            <a:r>
              <a:t>severity parameters.</a:t>
            </a:r>
            <a:br/>
            <a:r>
              <a:t>Apply inventory loss events.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Route Impacts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Calculate route status:</a:t>
            </a:r>
            <a:br/>
            <a:r>
              <a:t>normal, delayed, blocked,</a:t>
            </a:r>
            <a:br/>
            <a:r>
              <a:t>or alternate active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Reachability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Determine which nodes</a:t>
            </a:r>
            <a:br/>
            <a:r>
              <a:t>can receive supply via</a:t>
            </a:r>
            <a:br/>
            <a:r>
              <a:t>non-blocked routes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0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Path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Compute shortest-path</a:t>
            </a:r>
            <a:br/>
            <a:r>
              <a:t>latency; compare baseline</a:t>
            </a:r>
            <a:br/>
            <a:r>
              <a:t>vs. current for gap days</a:t>
            </a:r>
          </a:p>
        </p:txBody>
      </p:sp>
      <p:sp>
        <p:nvSpPr>
          <p:cNvPr id="26" name="Oval 25"/>
          <p:cNvSpPr/>
          <p:nvPr/>
        </p:nvSpPr>
        <p:spPr>
          <a:xfrm>
            <a:off x="10789919" y="187451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2468880"/>
            <a:ext cx="17373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Daily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8803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For each node and item,</a:t>
            </a:r>
            <a:br/>
            <a:r>
              <a:t>simulate daily net burn</a:t>
            </a:r>
            <a:br/>
            <a:r>
              <a:t>across the forecast horizon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54880"/>
            <a:ext cx="110642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6 Detail: Daily Inventory 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for day in range(1, horizon + 1):</a:t>
            </a:r>
          </a:p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    event_demand = supported_daily_demand(events, day)</a:t>
            </a:r>
          </a:p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    replenishment = baseline if reachable &amp; day &gt; latency_gap</a:t>
            </a:r>
          </a:p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    net_burn = max(0, event_demand - replenishment)</a:t>
            </a:r>
          </a:p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    balance -= net_burn</a:t>
            </a:r>
          </a:p>
          <a:p>
            <a:pPr>
              <a:spcAft>
                <a:spcPts val="0"/>
              </a:spcAft>
              <a:defRPr sz="1000">
                <a:solidFill>
                  <a:srgbClr val="3B82F6"/>
                </a:solidFill>
                <a:latin typeface="Consolas"/>
              </a:defRPr>
            </a:pPr>
            <a:r>
              <a:t>    if balance &lt;= 0: record stockout_day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DBEAFE"/>
                </a:solidFill>
                <a:latin typeface="Calibri"/>
              </a:defRPr>
            </a:pPr>
            <a:r>
              <a:t>Supported demand includes hub's own demand + all primary downstream nodes</a:t>
            </a:r>
          </a:p>
          <a:p>
            <a:pPr>
              <a:spcAft>
                <a:spcPts val="200"/>
              </a:spcAft>
              <a:defRPr sz="1000">
                <a:solidFill>
                  <a:srgbClr val="DBEAFE"/>
                </a:solidFill>
                <a:latin typeface="Calibri"/>
              </a:defRPr>
            </a:pPr>
            <a:r>
              <a:t>Replenishment resumes only after path latency gap expires</a:t>
            </a:r>
          </a:p>
          <a:p>
            <a:pPr>
              <a:spcAft>
                <a:spcPts val="200"/>
              </a:spcAft>
              <a:defRPr sz="1000">
                <a:solidFill>
                  <a:srgbClr val="DBEAFE"/>
                </a:solidFill>
                <a:latin typeface="Calibri"/>
              </a:defRPr>
            </a:pPr>
            <a:r>
              <a:t>Stockout day, critical day, and remaining days of supply tracked per item</a:t>
            </a:r>
          </a:p>
          <a:p>
            <a:pPr>
              <a:spcAft>
                <a:spcPts val="200"/>
              </a:spcAft>
              <a:defRPr sz="1000">
                <a:solidFill>
                  <a:srgbClr val="DBEAFE"/>
                </a:solidFill>
                <a:latin typeface="Calibri"/>
              </a:defRPr>
            </a:pPr>
            <a:r>
              <a:t>Node status derived from worst-case item projection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Prediction Outputs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38328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Per-Node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Node risk status (healthy/watch/risk/stockout/offline)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First stockout day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First critical day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Riskiest item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Effective stock days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Supply reachability status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Path latency (baseline vs. current)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38328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Per-Item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Current balance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Reorder point (21-day demand)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Critical level (7-day demand)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Stockout day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Critical day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Remaining days of supply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Daily burn rate / net burn rate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Baseline replenishment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749039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Route &amp; Network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Route status (normal/delayed/blocked/alternate)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Current latency vs. baseline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Reliability after degradation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Network-wide metrics: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- Nodes at risk count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- Earliest stockout (any node)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- Routes impacted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554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Automated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Alternate routes:</a:t>
            </a:r>
            <a:r>
              <a:rPr sz="1200" b="0">
                <a:solidFill>
                  <a:srgbClr val="1E293B"/>
                </a:solidFill>
                <a:latin typeface="Calibri"/>
              </a:rPr>
              <a:t> "Activate secondary route from [hub]" when non-primary routes exist for at-risk nodes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Emergency packages:</a:t>
            </a:r>
            <a:r>
              <a:rPr sz="1200" b="0">
                <a:solidFill>
                  <a:srgbClr val="1E293B"/>
                </a:solidFill>
                <a:latin typeface="Calibri"/>
              </a:rPr>
              <a:t> "Push a 72-hour emergency phlebotomy package" for forward units and battalion aid stations without viable routes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Unreachable nodes:</a:t>
            </a:r>
            <a:r>
              <a:rPr sz="1200" b="0">
                <a:solidFill>
                  <a:srgbClr val="1E293B"/>
                </a:solidFill>
                <a:latin typeface="Calibri"/>
              </a:rPr>
              <a:t> "No viable upstream route; push emergency package or restore a supply line" when all routes are blocked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rPr sz="1200" b="1">
                <a:solidFill>
                  <a:srgbClr val="1E293B"/>
                </a:solidFill>
                <a:latin typeface="Calibri"/>
              </a:rPr>
              <a:t>Offline nodes:</a:t>
            </a:r>
            <a:r>
              <a:rPr sz="1200" b="0">
                <a:solidFill>
                  <a:srgbClr val="1E293B"/>
                </a:solidFill>
                <a:latin typeface="Calibri"/>
              </a:rPr>
              <a:t> "Restore node operations or shift supported demand to alternate hubs" for hub-offline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&amp; Future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What This POC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Rule-based demand forecasting for transparency and auditability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Multi-echelon supply chain modeling with hub-and-spoke topology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Compound scenario analysis (multiple events, multiple nodes)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Day-by-day inventory simulation with route disruption effects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Actionable recommendations for supply-chain planners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Interactive map-based visualization with Google Maps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Editable demand profiles, node details, and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High-Value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CSV import/export for items, nodes, routes, and inventory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Store and compare forecast runs and scenario results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Route capacity and partial fulfillment logic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Item substitution rules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Shelf-life and expiration-aware inventory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User roles and audit history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Replace synthetic data with authoritative logistics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1554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Production Architecture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DBEAFE"/>
                </a:solidFill>
                <a:latin typeface="Calibri"/>
              </a:defRPr>
            </a:pPr>
            <a:r>
              <a:t>PostgreSQL (+ PostGIS for geospatial overlays)</a:t>
            </a:r>
          </a:p>
          <a:p>
            <a:pPr>
              <a:spcAft>
                <a:spcPts val="300"/>
              </a:spcAft>
              <a:defRPr sz="1300">
                <a:solidFill>
                  <a:srgbClr val="DBEAFE"/>
                </a:solidFill>
                <a:latin typeface="Calibri"/>
              </a:defRPr>
            </a:pPr>
            <a:r>
              <a:t>Scheduled ingestion jobs for external supply and encounter data</a:t>
            </a:r>
          </a:p>
          <a:p>
            <a:pPr>
              <a:spcAft>
                <a:spcPts val="300"/>
              </a:spcAft>
              <a:defRPr sz="1300">
                <a:solidFill>
                  <a:srgbClr val="DBEAFE"/>
                </a:solidFill>
                <a:latin typeface="Calibri"/>
              </a:defRPr>
            </a:pPr>
            <a:r>
              <a:t>Audit tables for scenario runs and user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DBEAFE"/>
                </a:solidFill>
                <a:latin typeface="Calibri"/>
              </a:defRPr>
            </a:pPr>
            <a:r>
              <a:t>Datasets needed: inventory, item catalogs, population data, encounter volume, requisition history, fulfillment lead times, route capacity</a:t>
            </a:r>
          </a:p>
          <a:p>
            <a:pPr>
              <a:spcAft>
                <a:spcPts val="300"/>
              </a:spcAft>
              <a:defRPr sz="1300">
                <a:solidFill>
                  <a:srgbClr val="DBEAFE"/>
                </a:solidFill>
                <a:latin typeface="Calibri"/>
              </a:defRPr>
            </a:pPr>
            <a:r>
              <a:t>Quality metrics: demand forecast MAE, stockout prediction precision/recall, days-of-supply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Medical Resupply Predictor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